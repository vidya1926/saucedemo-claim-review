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6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08" y="640080"/>
            <a:ext cx="1664208" cy="329184"/>
          </a:xfrm>
          <a:prstGeom prst="roundRect">
            <a:avLst/>
          </a:prstGeom>
          <a:solidFill>
            <a:srgbClr val="E2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672084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02338"/>
                </a:solidFill>
                <a:latin typeface="Aptos"/>
              </a:rPr>
              <a:t>RESEARCH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53312"/>
            <a:ext cx="9966960" cy="1627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Detecting Hallucinations in
AI-Generated Software Test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246120"/>
            <a:ext cx="987552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BFD3E5"/>
                </a:solidFill>
                <a:latin typeface="Aptos"/>
              </a:rPr>
              <a:t>An evaluation of metamorphic testing for Playwright UI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5138928"/>
            <a:ext cx="96012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4D9E7"/>
                </a:solidFill>
                <a:latin typeface="Aptos"/>
              </a:rPr>
              <a:t>Paired prompts  •  Application evidence  •  Human-reviewed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144768"/>
            <a:ext cx="777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C4D9E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6B7A9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338"/>
                </a:solidFill>
                <a:latin typeface="Aptos"/>
              </a:rPr>
              <a:t>A plausible test can still assert the wrong behavior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71016"/>
            <a:ext cx="731520" cy="50292"/>
          </a:xfrm>
          <a:prstGeom prst="rect">
            <a:avLst/>
          </a:prstGeom>
          <a:solidFill>
            <a:srgbClr val="26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9224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78A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3493008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73352"/>
            <a:ext cx="64008" cy="3374136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64792"/>
            <a:ext cx="31089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338"/>
                </a:solidFill>
                <a:latin typeface="Aptos"/>
              </a:rPr>
              <a:t>Generated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58568"/>
            <a:ext cx="3163824" cy="2752344"/>
          </a:xfrm>
          <a:prstGeom prst="rect">
            <a:avLst/>
          </a:prstGeom>
          <a:noFill/>
        </p:spPr>
        <p:txBody>
          <a:bodyPr wrap="square" lIns="109728" rIns="109728" tIns="73152" bIns="54864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3044"/>
                </a:solidFill>
                <a:latin typeface="Aptos"/>
              </a:defRPr>
            </a:pPr>
            <a:r>
              <a:t>•  May compile and run</a:t>
            </a:r>
          </a:p>
          <a:p>
            <a:pPr>
              <a:spcAft>
                <a:spcPts val="700"/>
              </a:spcAft>
              <a:defRPr sz="1600">
                <a:solidFill>
                  <a:srgbClr val="1F3044"/>
                </a:solidFill>
                <a:latin typeface="Aptos"/>
              </a:defRPr>
            </a:pPr>
            <a:r>
              <a:t>•  May use convincing locators and assertions</a:t>
            </a:r>
          </a:p>
          <a:p>
            <a:pPr>
              <a:spcAft>
                <a:spcPts val="700"/>
              </a:spcAft>
              <a:defRPr sz="1600">
                <a:solidFill>
                  <a:srgbClr val="1F3044"/>
                </a:solidFill>
                <a:latin typeface="Aptos"/>
              </a:defRPr>
            </a:pPr>
            <a:r>
              <a:t>•  Can encode an expectation the app does not satisfy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00200"/>
            <a:ext cx="3493008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673352"/>
            <a:ext cx="64008" cy="3374136"/>
          </a:xfrm>
          <a:prstGeom prst="rect">
            <a:avLst/>
          </a:prstGeom>
          <a:solidFill>
            <a:srgbClr val="E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64792"/>
            <a:ext cx="31089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338"/>
                </a:solidFill>
                <a:latin typeface="Aptos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258568"/>
            <a:ext cx="3163824" cy="2752344"/>
          </a:xfrm>
          <a:prstGeom prst="rect">
            <a:avLst/>
          </a:prstGeom>
          <a:noFill/>
        </p:spPr>
        <p:txBody>
          <a:bodyPr wrap="square" lIns="109728" rIns="109728" tIns="73152" bIns="54864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3044"/>
                </a:solidFill>
                <a:latin typeface="Aptos"/>
              </a:defRPr>
            </a:pPr>
            <a:r>
              <a:t>•  False confidence in a test suite</a:t>
            </a:r>
          </a:p>
          <a:p>
            <a:pPr>
              <a:spcAft>
                <a:spcPts val="700"/>
              </a:spcAft>
              <a:defRPr sz="1600">
                <a:solidFill>
                  <a:srgbClr val="1F3044"/>
                </a:solidFill>
                <a:latin typeface="Aptos"/>
              </a:defRPr>
            </a:pPr>
            <a:r>
              <a:t>•  Incorrect requirements can become automated checks</a:t>
            </a:r>
          </a:p>
          <a:p>
            <a:pPr>
              <a:spcAft>
                <a:spcPts val="700"/>
              </a:spcAft>
              <a:defRPr sz="1600">
                <a:solidFill>
                  <a:srgbClr val="1F3044"/>
                </a:solidFill>
                <a:latin typeface="Aptos"/>
              </a:defRPr>
            </a:pPr>
            <a:r>
              <a:t>•  Failures can waste time if the expected behavior is invented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600200"/>
            <a:ext cx="3456432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673352"/>
            <a:ext cx="64008" cy="3374136"/>
          </a:xfrm>
          <a:prstGeom prst="rect">
            <a:avLst/>
          </a:prstGeom>
          <a:solidFill>
            <a:srgbClr val="26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764792"/>
            <a:ext cx="307238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338"/>
                </a:solidFill>
                <a:latin typeface="Aptos"/>
              </a:rPr>
              <a:t>Research 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2258568"/>
            <a:ext cx="3127248" cy="2752344"/>
          </a:xfrm>
          <a:prstGeom prst="rect">
            <a:avLst/>
          </a:prstGeom>
          <a:noFill/>
        </p:spPr>
        <p:txBody>
          <a:bodyPr wrap="square" lIns="109728" rIns="109728" tIns="73152" bIns="54864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3044"/>
                </a:solidFill>
                <a:latin typeface="Aptos"/>
              </a:defRPr>
            </a:pPr>
            <a:r>
              <a:t>•  A passing test is not proof of correctness</a:t>
            </a:r>
          </a:p>
          <a:p>
            <a:pPr>
              <a:spcAft>
                <a:spcPts val="700"/>
              </a:spcAft>
              <a:defRPr sz="1600">
                <a:solidFill>
                  <a:srgbClr val="1F3044"/>
                </a:solidFill>
                <a:latin typeface="Aptos"/>
              </a:defRPr>
            </a:pPr>
            <a:r>
              <a:t>•  A failing test may be flaky or misconfigured</a:t>
            </a:r>
          </a:p>
          <a:p>
            <a:pPr>
              <a:spcAft>
                <a:spcPts val="700"/>
              </a:spcAft>
              <a:defRPr sz="1600">
                <a:solidFill>
                  <a:srgbClr val="1F3044"/>
                </a:solidFill>
                <a:latin typeface="Aptos"/>
              </a:defRPr>
            </a:pPr>
            <a:r>
              <a:t>•  Compare behavioral claims and verify them independently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486400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02338"/>
                </a:solidFill>
                <a:latin typeface="Aptos"/>
              </a:rPr>
              <a:t>Focus: unsupported user-visible behavior claims—not code style or exact selector matching.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6B7A9"/>
                </a:solidFill>
                <a:latin typeface="Aptos"/>
              </a:rPr>
              <a:t>STATE OF THE 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338"/>
                </a:solidFill>
                <a:latin typeface="Aptos"/>
              </a:rPr>
              <a:t>The proposal connects three research areas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71016"/>
            <a:ext cx="731520" cy="50292"/>
          </a:xfrm>
          <a:prstGeom prst="rect">
            <a:avLst/>
          </a:prstGeom>
          <a:solidFill>
            <a:srgbClr val="26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9224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78A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3511296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64008" cy="3145536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19072"/>
            <a:ext cx="31272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338"/>
                </a:solidFill>
                <a:latin typeface="Aptos"/>
              </a:rPr>
              <a:t>MetaQA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12848"/>
            <a:ext cx="3182112" cy="2523744"/>
          </a:xfrm>
          <a:prstGeom prst="rect">
            <a:avLst/>
          </a:prstGeom>
          <a:noFill/>
        </p:spPr>
        <p:txBody>
          <a:bodyPr wrap="square" lIns="109728" rIns="109728" tIns="73152" bIns="54864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Metamorphic prompt mutations for LLM response consistency</a:t>
            </a:r>
          </a:p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Foundation for comparing outputs from related prompts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554480"/>
            <a:ext cx="3511296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1627632"/>
            <a:ext cx="64008" cy="3145536"/>
          </a:xfrm>
          <a:prstGeom prst="rect">
            <a:avLst/>
          </a:prstGeom>
          <a:solidFill>
            <a:srgbClr val="26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719072"/>
            <a:ext cx="31272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338"/>
                </a:solidFill>
                <a:latin typeface="Aptos"/>
              </a:rPr>
              <a:t>LLM web-test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212848"/>
            <a:ext cx="3182112" cy="2523744"/>
          </a:xfrm>
          <a:prstGeom prst="rect">
            <a:avLst/>
          </a:prstGeom>
          <a:noFill/>
        </p:spPr>
        <p:txBody>
          <a:bodyPr wrap="square" lIns="109728" rIns="109728" tIns="73152" bIns="54864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Prior work generates navigation and form-filling tests</a:t>
            </a:r>
          </a:p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Emphasis is often on generation and coverage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493008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27632"/>
            <a:ext cx="64008" cy="3145536"/>
          </a:xfrm>
          <a:prstGeom prst="rect">
            <a:avLst/>
          </a:prstGeom>
          <a:solidFill>
            <a:srgbClr val="E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1089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338"/>
                </a:solidFill>
                <a:latin typeface="Aptos"/>
              </a:rPr>
              <a:t>Generated-test reliability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12848"/>
            <a:ext cx="3163824" cy="2523744"/>
          </a:xfrm>
          <a:prstGeom prst="rect">
            <a:avLst/>
          </a:prstGeom>
          <a:noFill/>
        </p:spPr>
        <p:txBody>
          <a:bodyPr wrap="square" lIns="109728" rIns="109728" tIns="73152" bIns="54864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Unit-test research studies compilation, runtime and context errors</a:t>
            </a:r>
          </a:p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Different domain from UI behavior claims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230368"/>
            <a:ext cx="10607040" cy="749808"/>
          </a:xfrm>
          <a:prstGeom prst="round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394960"/>
            <a:ext cx="1016812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2338"/>
                </a:solidFill>
                <a:latin typeface="Aptos"/>
              </a:rPr>
              <a:t>Proposed gap: empirically evaluate metamorphic checks + application grounding for generated UI-test claims.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6B7A9"/>
                </a:solidFill>
                <a:latin typeface="Aptos"/>
              </a:rPr>
              <a:t>AIM &amp; 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338"/>
                </a:solidFill>
                <a:latin typeface="Aptos"/>
              </a:rPr>
              <a:t>Measure whether the signals help—and where they fail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71016"/>
            <a:ext cx="731520" cy="50292"/>
          </a:xfrm>
          <a:prstGeom prst="rect">
            <a:avLst/>
          </a:prstGeom>
          <a:solidFill>
            <a:srgbClr val="26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9224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78A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54480"/>
            <a:ext cx="106527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02338"/>
                </a:solidFill>
                <a:latin typeface="Aptos"/>
              </a:rPr>
              <a:t>Aim: evaluate whether meaning-preserving prompt mutations, combined with independently reviewed app evidence, surface unsupported claims in AI-generated Playwright tests.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87168"/>
            <a:ext cx="777240" cy="329184"/>
          </a:xfrm>
          <a:prstGeom prst="round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519172"/>
            <a:ext cx="66751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02338"/>
                </a:solidFill>
                <a:latin typeface="Aptos"/>
              </a:rP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2432304"/>
            <a:ext cx="95097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F3044"/>
                </a:solidFill>
                <a:latin typeface="Aptos"/>
              </a:rPr>
              <a:t>How often do equivalent prompts produce conflicting behavioral claims?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09544"/>
            <a:ext cx="777240" cy="329184"/>
          </a:xfrm>
          <a:prstGeom prst="roundRect">
            <a:avLst/>
          </a:prstGeom>
          <a:solidFill>
            <a:srgbClr val="E2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241548"/>
            <a:ext cx="66751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02338"/>
                </a:solidFill>
                <a:latin typeface="Aptos"/>
              </a:rPr>
              <a:t>RQ2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3154680"/>
            <a:ext cx="95097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F3044"/>
                </a:solidFill>
                <a:latin typeface="Aptos"/>
              </a:rPr>
              <a:t>How accurately do consistency checks identify reviewed claim errors?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31920"/>
            <a:ext cx="777240" cy="329184"/>
          </a:xfrm>
          <a:prstGeom prst="roundRect">
            <a:avLst/>
          </a:prstGeom>
          <a:solidFill>
            <a:srgbClr val="FB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963924"/>
            <a:ext cx="66751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02338"/>
                </a:solidFill>
                <a:latin typeface="Aptos"/>
              </a:rPr>
              <a:t>RQ3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3877056"/>
            <a:ext cx="95097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F3044"/>
                </a:solidFill>
                <a:latin typeface="Aptos"/>
              </a:rPr>
              <a:t>Does grounding add value over consistency-only or execution-only checks?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654296"/>
            <a:ext cx="777240" cy="329184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686300"/>
            <a:ext cx="66751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02338"/>
                </a:solidFill>
                <a:latin typeface="Aptos"/>
              </a:rPr>
              <a:t>RQ4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4599432"/>
            <a:ext cx="95097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F3044"/>
                </a:solidFill>
                <a:latin typeface="Aptos"/>
              </a:rPr>
              <a:t>What false alarms and unresolved cases remain?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96128"/>
            <a:ext cx="10515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7778A"/>
                </a:solidFill>
                <a:latin typeface="Aptos"/>
              </a:rPr>
              <a:t>This evaluates a fixed pretrained LLM; it does not train a new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6B7A9"/>
                </a:solidFill>
                <a:latin typeface="Aptos"/>
              </a:rPr>
              <a:t>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338"/>
                </a:solidFill>
                <a:latin typeface="Aptos"/>
              </a:rPr>
              <a:t>Architecture: compare claims, ground them, then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71016"/>
            <a:ext cx="731520" cy="50292"/>
          </a:xfrm>
          <a:prstGeom prst="rect">
            <a:avLst/>
          </a:prstGeom>
          <a:solidFill>
            <a:srgbClr val="26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9224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78A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27632"/>
            <a:ext cx="1993392" cy="9418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D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37360"/>
            <a:ext cx="1847088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2338"/>
                </a:solidFill>
                <a:latin typeface="Aptos"/>
              </a:rPr>
              <a:t>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112264"/>
            <a:ext cx="182880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7778A"/>
                </a:solidFill>
                <a:latin typeface="Aptos"/>
              </a:rPr>
              <a:t>Scenario + expected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627632"/>
            <a:ext cx="1993392" cy="9418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D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38144" y="1737360"/>
            <a:ext cx="1847088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2338"/>
                </a:solidFill>
                <a:latin typeface="Aptos"/>
              </a:rPr>
              <a:t>Prompt pair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112264"/>
            <a:ext cx="182880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7778A"/>
                </a:solidFill>
                <a:latin typeface="Aptos"/>
              </a:rPr>
              <a:t>Original + reviewed paraphrase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1627632"/>
            <a:ext cx="1993392" cy="9418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6B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9904" y="1737360"/>
            <a:ext cx="1847088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2338"/>
                </a:solidFill>
                <a:latin typeface="Aptos"/>
              </a:rPr>
              <a:t>Same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2112264"/>
            <a:ext cx="182880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7778A"/>
                </a:solidFill>
                <a:latin typeface="Aptos"/>
              </a:rPr>
              <a:t>Fixed model + settings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627632"/>
            <a:ext cx="1993392" cy="9418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6B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41664" y="1737360"/>
            <a:ext cx="1847088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2338"/>
                </a:solidFill>
                <a:latin typeface="Aptos"/>
              </a:rPr>
              <a:t>Playwright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0808" y="2112264"/>
            <a:ext cx="182880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7778A"/>
                </a:solidFill>
                <a:latin typeface="Aptos"/>
              </a:rPr>
              <a:t>Generated test A and 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61488" y="2103120"/>
            <a:ext cx="530352" cy="0"/>
          </a:xfrm>
          <a:prstGeom prst="line">
            <a:avLst/>
          </a:prstGeom>
          <a:ln w="22860">
            <a:solidFill>
              <a:srgbClr val="677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413248" y="2103120"/>
            <a:ext cx="530352" cy="0"/>
          </a:xfrm>
          <a:prstGeom prst="line">
            <a:avLst/>
          </a:prstGeom>
          <a:ln w="22860">
            <a:solidFill>
              <a:srgbClr val="677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65008" y="2103120"/>
            <a:ext cx="530352" cy="0"/>
          </a:xfrm>
          <a:prstGeom prst="line">
            <a:avLst/>
          </a:prstGeom>
          <a:ln w="22860">
            <a:solidFill>
              <a:srgbClr val="677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224528" y="2907792"/>
            <a:ext cx="2926080" cy="8412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D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3017520"/>
            <a:ext cx="2779776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2338"/>
                </a:solidFill>
                <a:latin typeface="Aptos"/>
              </a:rPr>
              <a:t>Claim 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6824" y="3392424"/>
            <a:ext cx="276148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7778A"/>
                </a:solidFill>
                <a:latin typeface="Aptos"/>
              </a:rPr>
              <a:t>Normalize observable behavior, not code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995160" y="2578608"/>
            <a:ext cx="2651760" cy="310896"/>
          </a:xfrm>
          <a:prstGeom prst="line">
            <a:avLst/>
          </a:prstGeom>
          <a:ln w="22860">
            <a:solidFill>
              <a:srgbClr val="677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182112" y="2578608"/>
            <a:ext cx="1517904" cy="310896"/>
          </a:xfrm>
          <a:prstGeom prst="line">
            <a:avLst/>
          </a:prstGeom>
          <a:ln w="22860">
            <a:solidFill>
              <a:srgbClr val="677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41248" y="4315968"/>
            <a:ext cx="2944368" cy="96926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D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425696"/>
            <a:ext cx="2798064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2338"/>
                </a:solidFill>
                <a:latin typeface="Aptos"/>
              </a:rPr>
              <a:t>Consistency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" y="4800600"/>
            <a:ext cx="2779776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7778A"/>
                </a:solidFill>
                <a:latin typeface="Aptos"/>
              </a:rPr>
              <a:t>Do paired claims disagree?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26864" y="4315968"/>
            <a:ext cx="2944368" cy="96926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6B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0016" y="4425696"/>
            <a:ext cx="2798064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2338"/>
                </a:solidFill>
                <a:latin typeface="Aptos"/>
              </a:rPr>
              <a:t>Grounding 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59" y="4800600"/>
            <a:ext cx="2779776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7778A"/>
                </a:solidFill>
                <a:latin typeface="Aptos"/>
              </a:rPr>
              <a:t>Compare to independent 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4315968"/>
            <a:ext cx="2944368" cy="96926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FB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85632" y="4425696"/>
            <a:ext cx="2798064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2338"/>
                </a:solidFill>
                <a:latin typeface="Aptos"/>
              </a:rPr>
              <a:t>Playwright 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94776" y="4800600"/>
            <a:ext cx="2779776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7778A"/>
                </a:solidFill>
                <a:latin typeface="Aptos"/>
              </a:rPr>
              <a:t>Observed state / traces; signal only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2743200" y="3749039"/>
            <a:ext cx="2048256" cy="539497"/>
          </a:xfrm>
          <a:prstGeom prst="line">
            <a:avLst/>
          </a:prstGeom>
          <a:ln w="22860">
            <a:solidFill>
              <a:srgbClr val="677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715000" y="3749039"/>
            <a:ext cx="365760" cy="539497"/>
          </a:xfrm>
          <a:prstGeom prst="line">
            <a:avLst/>
          </a:prstGeom>
          <a:ln w="22860">
            <a:solidFill>
              <a:srgbClr val="677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583680" y="3749039"/>
            <a:ext cx="3218688" cy="539497"/>
          </a:xfrm>
          <a:prstGeom prst="line">
            <a:avLst/>
          </a:prstGeom>
          <a:ln w="22860">
            <a:solidFill>
              <a:srgbClr val="677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85615" y="4791456"/>
            <a:ext cx="822961" cy="0"/>
          </a:xfrm>
          <a:prstGeom prst="line">
            <a:avLst/>
          </a:prstGeom>
          <a:ln w="22860">
            <a:solidFill>
              <a:srgbClr val="677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580375" y="4791456"/>
            <a:ext cx="813817" cy="0"/>
          </a:xfrm>
          <a:prstGeom prst="line">
            <a:avLst/>
          </a:prstGeom>
          <a:ln w="22860">
            <a:solidFill>
              <a:srgbClr val="677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4400" y="5596128"/>
            <a:ext cx="10149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2338"/>
                </a:solidFill>
                <a:latin typeface="Aptos"/>
              </a:rPr>
              <a:t>Evidence catalog → human-reviewed labels → compare baselines and report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6B7A9"/>
                </a:solidFill>
                <a:latin typeface="Aptos"/>
              </a:rPr>
              <a:t>METAMORPHIC 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338"/>
                </a:solidFill>
                <a:latin typeface="Aptos"/>
              </a:rPr>
              <a:t>Compare the meaning—not the exact 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71016"/>
            <a:ext cx="731520" cy="50292"/>
          </a:xfrm>
          <a:prstGeom prst="rect">
            <a:avLst/>
          </a:prstGeom>
          <a:solidFill>
            <a:srgbClr val="26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9224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78A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27632"/>
            <a:ext cx="4983480" cy="3493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00784"/>
            <a:ext cx="64008" cy="3346703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792224"/>
            <a:ext cx="45994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338"/>
                </a:solidFill>
                <a:latin typeface="Aptos"/>
              </a:rPr>
              <a:t>Meaning-preserving mutation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86000"/>
            <a:ext cx="4654296" cy="2724912"/>
          </a:xfrm>
          <a:prstGeom prst="rect">
            <a:avLst/>
          </a:prstGeom>
          <a:noFill/>
        </p:spPr>
        <p:txBody>
          <a:bodyPr wrap="square" lIns="109728" rIns="109728" tIns="73152" bIns="54864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3044"/>
                </a:solidFill>
                <a:latin typeface="Aptos"/>
              </a:defRPr>
            </a:pPr>
            <a:r>
              <a:t>•  Keep actor, preconditions, action, and outcome unchanged</a:t>
            </a:r>
          </a:p>
          <a:p>
            <a:pPr>
              <a:spcAft>
                <a:spcPts val="700"/>
              </a:spcAft>
              <a:defRPr sz="1600">
                <a:solidFill>
                  <a:srgbClr val="1F3044"/>
                </a:solidFill>
                <a:latin typeface="Aptos"/>
              </a:defRPr>
            </a:pPr>
            <a:r>
              <a:t>•  Review each prompt pair before generation</a:t>
            </a:r>
          </a:p>
          <a:p>
            <a:pPr>
              <a:spcAft>
                <a:spcPts val="700"/>
              </a:spcAft>
              <a:defRPr sz="1600">
                <a:solidFill>
                  <a:srgbClr val="1F3044"/>
                </a:solidFill>
                <a:latin typeface="Aptos"/>
              </a:defRPr>
            </a:pPr>
            <a:r>
              <a:t>•  Compare normalized user-visible behavioral claims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627632"/>
            <a:ext cx="4983480" cy="3493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700784"/>
            <a:ext cx="64008" cy="3346703"/>
          </a:xfrm>
          <a:prstGeom prst="rect">
            <a:avLst/>
          </a:prstGeom>
          <a:solidFill>
            <a:srgbClr val="26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792224"/>
            <a:ext cx="45994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338"/>
                </a:solidFill>
                <a:latin typeface="Aptos"/>
              </a:rPr>
              <a:t>What should not be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286000"/>
            <a:ext cx="4654296" cy="2724912"/>
          </a:xfrm>
          <a:prstGeom prst="rect">
            <a:avLst/>
          </a:prstGeom>
          <a:noFill/>
        </p:spPr>
        <p:txBody>
          <a:bodyPr wrap="square" lIns="109728" rIns="109728" tIns="73152" bIns="54864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3044"/>
                </a:solidFill>
                <a:latin typeface="Aptos"/>
              </a:defRPr>
            </a:pPr>
            <a:r>
              <a:t>•  Identical Playwright code</a:t>
            </a:r>
          </a:p>
          <a:p>
            <a:pPr>
              <a:spcAft>
                <a:spcPts val="700"/>
              </a:spcAft>
              <a:defRPr sz="1600">
                <a:solidFill>
                  <a:srgbClr val="1F3044"/>
                </a:solidFill>
                <a:latin typeface="Aptos"/>
              </a:defRPr>
            </a:pPr>
            <a:r>
              <a:t>•  Identical locators or page-object design</a:t>
            </a:r>
          </a:p>
          <a:p>
            <a:pPr>
              <a:spcAft>
                <a:spcPts val="700"/>
              </a:spcAft>
              <a:defRPr sz="1600">
                <a:solidFill>
                  <a:srgbClr val="1F3044"/>
                </a:solidFill>
                <a:latin typeface="Aptos"/>
              </a:defRPr>
            </a:pPr>
            <a:r>
              <a:t>•  Identical formatting or implementation details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58968" y="2852928"/>
            <a:ext cx="822960" cy="329184"/>
          </a:xfrm>
          <a:prstGeom prst="roundRect">
            <a:avLst/>
          </a:prstGeom>
          <a:solidFill>
            <a:srgbClr val="FB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13831" y="2884932"/>
            <a:ext cx="71323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02338"/>
                </a:solidFill>
                <a:latin typeface="Aptos"/>
              </a:rPr>
              <a:t>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486400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02338"/>
                </a:solidFill>
                <a:latin typeface="Aptos"/>
              </a:rPr>
              <a:t>A disagreement is a signal to inspect. Two agreeing outputs may still both be wrong.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6B7A9"/>
                </a:solidFill>
                <a:latin typeface="Aptos"/>
              </a:rPr>
              <a:t>STUDY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338"/>
                </a:solidFill>
                <a:latin typeface="Aptos"/>
              </a:rPr>
              <a:t>Pilot on a public demo site with changing UI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71016"/>
            <a:ext cx="731520" cy="50292"/>
          </a:xfrm>
          <a:prstGeom prst="rect">
            <a:avLst/>
          </a:prstGeom>
          <a:solidFill>
            <a:srgbClr val="26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9224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78A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72768"/>
            <a:ext cx="3456432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645920"/>
            <a:ext cx="64008" cy="3374136"/>
          </a:xfrm>
          <a:prstGeom prst="rect">
            <a:avLst/>
          </a:prstGeom>
          <a:solidFill>
            <a:srgbClr val="26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307238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338"/>
                </a:solidFill>
                <a:latin typeface="Aptos"/>
              </a:rPr>
              <a:t>Target: SauceDemo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31136"/>
            <a:ext cx="3127248" cy="2752344"/>
          </a:xfrm>
          <a:prstGeom prst="rect">
            <a:avLst/>
          </a:prstGeom>
          <a:noFill/>
        </p:spPr>
        <p:txBody>
          <a:bodyPr wrap="square" lIns="109728" rIns="109728" tIns="73152" bIns="54864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Public interactive demo; no Salesforce access needed</a:t>
            </a:r>
          </a:p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Login, cart, sort, checkout, logout scenarios</a:t>
            </a:r>
          </a:p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Record observation date and artifacts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72768"/>
            <a:ext cx="3456432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645920"/>
            <a:ext cx="64008" cy="3374136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37360"/>
            <a:ext cx="307238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338"/>
                </a:solidFill>
                <a:latin typeface="Aptos"/>
              </a:rPr>
              <a:t>Planned sample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231136"/>
            <a:ext cx="3127248" cy="2752344"/>
          </a:xfrm>
          <a:prstGeom prst="rect">
            <a:avLst/>
          </a:prstGeom>
          <a:noFill/>
        </p:spPr>
        <p:txBody>
          <a:bodyPr wrap="square" lIns="109728" rIns="109728" tIns="73152" bIns="54864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5 scenario families</a:t>
            </a:r>
          </a:p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8 repeated prompt pairs per scenario</a:t>
            </a:r>
          </a:p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Up to 40 pairs / 80 generated tests</a:t>
            </a:r>
          </a:p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Feasibility target—not a power claim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572768"/>
            <a:ext cx="3456432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1" y="1645920"/>
            <a:ext cx="64008" cy="3374136"/>
          </a:xfrm>
          <a:prstGeom prst="rect">
            <a:avLst/>
          </a:prstGeom>
          <a:solidFill>
            <a:srgbClr val="E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37360"/>
            <a:ext cx="307238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338"/>
                </a:solidFill>
                <a:latin typeface="Aptos"/>
              </a:rPr>
              <a:t>Audit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1" y="2231136"/>
            <a:ext cx="3127248" cy="2752344"/>
          </a:xfrm>
          <a:prstGeom prst="rect">
            <a:avLst/>
          </a:prstGeom>
          <a:noFill/>
        </p:spPr>
        <p:txBody>
          <a:bodyPr wrap="square" lIns="109728" rIns="109728" tIns="73152" bIns="54864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Prompts, model/version, settings</a:t>
            </a:r>
          </a:p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Generated tests + normalized claims</a:t>
            </a:r>
          </a:p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Evidence source and browser artifacts</a:t>
            </a:r>
          </a:p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Reviewer label and rationale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104241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7778A"/>
                </a:solidFill>
                <a:latin typeface="Aptos"/>
              </a:rPr>
              <a:t>Prototype smoke tests exercise login, add/remove cart, and price sorting; research evidence still requires independent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6B7A9"/>
                </a:solidFill>
                <a:latin typeface="Aptos"/>
              </a:rP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338"/>
                </a:solidFill>
                <a:latin typeface="Aptos"/>
              </a:rPr>
              <a:t>Keep the three signals separate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71016"/>
            <a:ext cx="731520" cy="50292"/>
          </a:xfrm>
          <a:prstGeom prst="rect">
            <a:avLst/>
          </a:prstGeom>
          <a:solidFill>
            <a:srgbClr val="26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9224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78A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72768"/>
            <a:ext cx="3456432" cy="3474720"/>
          </a:xfrm>
          <a:prstGeom prst="roundRect">
            <a:avLst/>
          </a:prstGeom>
          <a:solidFill>
            <a:srgbClr val="E8EE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645920"/>
            <a:ext cx="64008" cy="3328415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737360"/>
            <a:ext cx="307238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338"/>
                </a:solidFill>
                <a:latin typeface="Aptos"/>
              </a:rPr>
              <a:t>Pair disagreement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31136"/>
            <a:ext cx="3127248" cy="2706624"/>
          </a:xfrm>
          <a:prstGeom prst="rect">
            <a:avLst/>
          </a:prstGeom>
          <a:noFill/>
        </p:spPr>
        <p:txBody>
          <a:bodyPr wrap="square" lIns="109728" rIns="109728" tIns="73152" bIns="54864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Equivalent prompts imply opposite claims</a:t>
            </a:r>
          </a:p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Label: inconsistency signal</a:t>
            </a:r>
          </a:p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Not proof of hallucination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72768"/>
            <a:ext cx="3456432" cy="3474720"/>
          </a:xfrm>
          <a:prstGeom prst="roundRect">
            <a:avLst/>
          </a:prstGeom>
          <a:solidFill>
            <a:srgbClr val="E2F6F3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645920"/>
            <a:ext cx="64008" cy="3328415"/>
          </a:xfrm>
          <a:prstGeom prst="rect">
            <a:avLst/>
          </a:prstGeom>
          <a:solidFill>
            <a:srgbClr val="26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37360"/>
            <a:ext cx="307238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338"/>
                </a:solidFill>
                <a:latin typeface="Aptos"/>
              </a:rPr>
              <a:t>Evidence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231136"/>
            <a:ext cx="3127248" cy="2706624"/>
          </a:xfrm>
          <a:prstGeom prst="rect">
            <a:avLst/>
          </a:prstGeom>
          <a:noFill/>
        </p:spPr>
        <p:txBody>
          <a:bodyPr wrap="square" lIns="109728" rIns="109728" tIns="73152" bIns="54864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Matches / contradicts supplied fact</a:t>
            </a:r>
          </a:p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Missing fact → unresolved by this evidence</a:t>
            </a:r>
          </a:p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Evidence quality must be reviewed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1572768"/>
            <a:ext cx="3456432" cy="3474720"/>
          </a:xfrm>
          <a:prstGeom prst="roundRect">
            <a:avLst/>
          </a:prstGeom>
          <a:solidFill>
            <a:srgbClr val="FBF2DD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1856" y="1645920"/>
            <a:ext cx="64008" cy="3328415"/>
          </a:xfrm>
          <a:prstGeom prst="rect">
            <a:avLst/>
          </a:prstGeom>
          <a:solidFill>
            <a:srgbClr val="E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737360"/>
            <a:ext cx="307238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338"/>
                </a:solidFill>
                <a:latin typeface="Aptos"/>
              </a:rPr>
              <a:t>Browser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2231136"/>
            <a:ext cx="3127248" cy="2706624"/>
          </a:xfrm>
          <a:prstGeom prst="rect">
            <a:avLst/>
          </a:prstGeom>
          <a:noFill/>
        </p:spPr>
        <p:txBody>
          <a:bodyPr wrap="square" lIns="109728" rIns="109728" tIns="73152" bIns="54864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Pass/fail, UI state, trace, screenshot</a:t>
            </a:r>
          </a:p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May reveal technical issues</a:t>
            </a:r>
          </a:p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Not the truth oracle by itself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106070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02338"/>
                </a:solidFill>
                <a:latin typeface="Aptos"/>
              </a:rPr>
              <a:t>Outcome: a human review queue—not an automatic verdict.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6B7A9"/>
                </a:solidFill>
                <a:latin typeface="Aptos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338"/>
                </a:solidFill>
                <a:latin typeface="Aptos"/>
              </a:rPr>
              <a:t>Compare four approaches against reviewed labels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71016"/>
            <a:ext cx="731520" cy="50292"/>
          </a:xfrm>
          <a:prstGeom prst="rect">
            <a:avLst/>
          </a:prstGeom>
          <a:solidFill>
            <a:srgbClr val="26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9224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78A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1618488"/>
            <a:ext cx="676656" cy="329184"/>
          </a:xfrm>
          <a:prstGeom prst="round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650492"/>
            <a:ext cx="5669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0233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0784" y="1572768"/>
            <a:ext cx="24871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02338"/>
                </a:solidFill>
                <a:latin typeface="Aptos"/>
              </a:rPr>
              <a:t>Execution-only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572768"/>
            <a:ext cx="6903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044"/>
                </a:solidFill>
                <a:latin typeface="Aptos"/>
              </a:rPr>
              <a:t>Browser outcomes and captured observations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2377439"/>
            <a:ext cx="676656" cy="329184"/>
          </a:xfrm>
          <a:prstGeom prst="roundRect">
            <a:avLst/>
          </a:prstGeom>
          <a:solidFill>
            <a:srgbClr val="E2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409444"/>
            <a:ext cx="5669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02338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0784" y="2331720"/>
            <a:ext cx="24871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02338"/>
                </a:solidFill>
                <a:latin typeface="Aptos"/>
              </a:rPr>
              <a:t>Consistency-only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331720"/>
            <a:ext cx="6903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044"/>
                </a:solidFill>
                <a:latin typeface="Aptos"/>
              </a:rPr>
              <a:t>Disagreement across equivalent prompts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3136391"/>
            <a:ext cx="676656" cy="329184"/>
          </a:xfrm>
          <a:prstGeom prst="roundRect">
            <a:avLst/>
          </a:prstGeom>
          <a:solidFill>
            <a:srgbClr val="FB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168396"/>
            <a:ext cx="5669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02338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090672"/>
            <a:ext cx="24871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02338"/>
                </a:solidFill>
                <a:latin typeface="Aptos"/>
              </a:rPr>
              <a:t>Grounding-only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090672"/>
            <a:ext cx="6903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044"/>
                </a:solidFill>
                <a:latin typeface="Aptos"/>
              </a:rPr>
              <a:t>Claim compared with evidence catalog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3895344"/>
            <a:ext cx="676656" cy="329184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927348"/>
            <a:ext cx="5669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02338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3849624"/>
            <a:ext cx="24871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02338"/>
                </a:solidFill>
                <a:latin typeface="Aptos"/>
              </a:rPr>
              <a:t>Combined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849624"/>
            <a:ext cx="6903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044"/>
                </a:solidFill>
                <a:latin typeface="Aptos"/>
              </a:rPr>
              <a:t>Consistency + grounding under a predeclared rule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736592"/>
            <a:ext cx="1051560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8" y="4809744"/>
            <a:ext cx="64008" cy="914399"/>
          </a:xfrm>
          <a:prstGeom prst="rect">
            <a:avLst/>
          </a:prstGeom>
          <a:solidFill>
            <a:srgbClr val="26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" y="4901183"/>
            <a:ext cx="101315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8"/>
                </a:solidFill>
                <a:latin typeface="Aptos"/>
              </a:rPr>
              <a:t>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5394959"/>
            <a:ext cx="10186416" cy="292607"/>
          </a:xfrm>
          <a:prstGeom prst="rect">
            <a:avLst/>
          </a:prstGeom>
          <a:noFill/>
        </p:spPr>
        <p:txBody>
          <a:bodyPr wrap="square" lIns="109728" rIns="109728" tIns="73152" bIns="54864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3044"/>
                </a:solidFill>
                <a:latin typeface="Aptos"/>
              </a:defRPr>
            </a:pPr>
            <a:r>
              <a:t>•  Confusion matrix, precision, recall, F1, false positives, unresolved cases; claim- and pair-level where appropriate.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6B7A9"/>
                </a:solidFill>
                <a:latin typeface="Aptos"/>
              </a:rP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338"/>
                </a:solidFill>
                <a:latin typeface="Aptos"/>
              </a:rPr>
              <a:t>What exists now—and what remains research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71016"/>
            <a:ext cx="731520" cy="50292"/>
          </a:xfrm>
          <a:prstGeom prst="rect">
            <a:avLst/>
          </a:prstGeom>
          <a:solidFill>
            <a:srgbClr val="26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9224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78A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230368" cy="36210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64008" cy="3474720"/>
          </a:xfrm>
          <a:prstGeom prst="rect">
            <a:avLst/>
          </a:prstGeom>
          <a:solidFill>
            <a:srgbClr val="26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37360"/>
            <a:ext cx="48463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338"/>
                </a:solidFill>
                <a:latin typeface="Aptos"/>
              </a:rPr>
              <a:t>Implemented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31136"/>
            <a:ext cx="4901183" cy="2852928"/>
          </a:xfrm>
          <a:prstGeom prst="rect">
            <a:avLst/>
          </a:prstGeom>
          <a:noFill/>
        </p:spPr>
        <p:txBody>
          <a:bodyPr wrap="square" lIns="109728" rIns="109728" tIns="73152" bIns="54864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Offline claim-review CLI with JSON scenario format</a:t>
            </a:r>
          </a:p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Surfaces disagreement, evidence conflict, and missing facts</a:t>
            </a:r>
          </a:p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6 analyzer unit tests pass</a:t>
            </a:r>
          </a:p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SauceDemo Playwright smoke suite: 4 tests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72768"/>
            <a:ext cx="5230368" cy="36210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64008" cy="3474720"/>
          </a:xfrm>
          <a:prstGeom prst="rect">
            <a:avLst/>
          </a:prstGeom>
          <a:solidFill>
            <a:srgbClr val="E06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737360"/>
            <a:ext cx="48463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338"/>
                </a:solidFill>
                <a:latin typeface="Aptos"/>
              </a:rPr>
              <a:t>Not yet established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31136"/>
            <a:ext cx="4901183" cy="2852928"/>
          </a:xfrm>
          <a:prstGeom prst="rect">
            <a:avLst/>
          </a:prstGeom>
          <a:noFill/>
        </p:spPr>
        <p:txBody>
          <a:bodyPr wrap="square" lIns="109728" rIns="109728" tIns="73152" bIns="54864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No LLM integration or automatic claim extraction</a:t>
            </a:r>
          </a:p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Example evidence is illustrative, not ground truth</a:t>
            </a:r>
          </a:p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No labeled corpus or measured precision/recall</a:t>
            </a:r>
          </a:p>
          <a:p>
            <a:pPr>
              <a:spcAft>
                <a:spcPts val="7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No claim of validated detector effectiveness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5513832"/>
            <a:ext cx="104241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E0655B"/>
                </a:solidFill>
                <a:latin typeface="Aptos"/>
              </a:rPr>
              <a:t>Do not use real account credentials or production customer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6B7A9"/>
                </a:solidFill>
                <a:latin typeface="Aptos"/>
              </a:rPr>
              <a:t>PLAN &amp;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338"/>
                </a:solidFill>
                <a:latin typeface="Aptos"/>
              </a:rPr>
              <a:t>Next steps: validate the evidence before scaling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71016"/>
            <a:ext cx="731520" cy="50292"/>
          </a:xfrm>
          <a:prstGeom prst="rect">
            <a:avLst/>
          </a:prstGeom>
          <a:solidFill>
            <a:srgbClr val="26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9224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78A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55648"/>
            <a:ext cx="749808" cy="329184"/>
          </a:xfrm>
          <a:prstGeom prst="round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87651"/>
            <a:ext cx="6400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02338"/>
                </a:solidFill>
                <a:latin typeface="Aptos"/>
              </a:rPr>
              <a:t>W1–2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21992"/>
            <a:ext cx="201168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3044"/>
                </a:solidFill>
                <a:latin typeface="Aptos"/>
              </a:rPr>
              <a:t>Confirm scope + review literature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33472" y="2112264"/>
            <a:ext cx="256032" cy="0"/>
          </a:xfrm>
          <a:prstGeom prst="line">
            <a:avLst/>
          </a:prstGeom>
          <a:ln w="15240">
            <a:solidFill>
              <a:srgbClr val="DE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17520" y="1755648"/>
            <a:ext cx="749808" cy="329184"/>
          </a:xfrm>
          <a:prstGeom prst="roundRect">
            <a:avLst/>
          </a:prstGeom>
          <a:solidFill>
            <a:srgbClr val="E2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2384" y="1787651"/>
            <a:ext cx="6400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02338"/>
                </a:solidFill>
                <a:latin typeface="Aptos"/>
              </a:rPr>
              <a:t>W3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221992"/>
            <a:ext cx="201168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3044"/>
                </a:solidFill>
                <a:latin typeface="Aptos"/>
              </a:rPr>
              <a:t>Pilot prompts, labels, and evidence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01184" y="2112264"/>
            <a:ext cx="256032" cy="0"/>
          </a:xfrm>
          <a:prstGeom prst="line">
            <a:avLst/>
          </a:prstGeom>
          <a:ln w="15240">
            <a:solidFill>
              <a:srgbClr val="DE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85231" y="1755648"/>
            <a:ext cx="749808" cy="329184"/>
          </a:xfrm>
          <a:prstGeom prst="roundRect">
            <a:avLst/>
          </a:prstGeom>
          <a:solidFill>
            <a:srgbClr val="FB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0095" y="1787651"/>
            <a:ext cx="6400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02338"/>
                </a:solidFill>
                <a:latin typeface="Aptos"/>
              </a:rPr>
              <a:t>W4–5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1" y="2221992"/>
            <a:ext cx="201168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3044"/>
                </a:solidFill>
                <a:latin typeface="Aptos"/>
              </a:rPr>
              <a:t>Collect paired generations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68896" y="2112264"/>
            <a:ext cx="256031" cy="0"/>
          </a:xfrm>
          <a:prstGeom prst="line">
            <a:avLst/>
          </a:prstGeom>
          <a:ln w="15240">
            <a:solidFill>
              <a:srgbClr val="DE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52944" y="1755648"/>
            <a:ext cx="749808" cy="329184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07808" y="1787651"/>
            <a:ext cx="6400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02338"/>
                </a:solidFill>
                <a:latin typeface="Aptos"/>
              </a:rPr>
              <a:t>W6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944" y="2221992"/>
            <a:ext cx="201168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3044"/>
                </a:solidFill>
                <a:latin typeface="Aptos"/>
              </a:rPr>
              <a:t>Review and adjudicate claims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6608" y="2112264"/>
            <a:ext cx="256032" cy="0"/>
          </a:xfrm>
          <a:prstGeom prst="line">
            <a:avLst/>
          </a:prstGeom>
          <a:ln w="15240">
            <a:solidFill>
              <a:srgbClr val="DE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820656" y="1755648"/>
            <a:ext cx="749808" cy="329184"/>
          </a:xfrm>
          <a:prstGeom prst="round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1787651"/>
            <a:ext cx="6400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02338"/>
                </a:solidFill>
                <a:latin typeface="Aptos"/>
              </a:rPr>
              <a:t>W7–8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0656" y="2221992"/>
            <a:ext cx="201168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3044"/>
                </a:solidFill>
                <a:latin typeface="Aptos"/>
              </a:rPr>
              <a:t>Analyze, report, and revise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657600"/>
            <a:ext cx="10515600" cy="137160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3904487"/>
            <a:ext cx="9921240" cy="868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"/>
              </a:rPr>
              <a:t>Contribution to evaluate: whether metamorphic checks add useful signal beyond grounding and execution—and how often they mislead.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5440680"/>
            <a:ext cx="104241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7778A"/>
                </a:solidFill>
                <a:latin typeface="Aptos"/>
              </a:rPr>
              <a:t>Novelty remains a research question; complete a systematic literature review before claiming priority.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6B7A9"/>
                </a:solidFill>
                <a:latin typeface="Aptos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338"/>
                </a:solidFill>
                <a:latin typeface="Aptos"/>
              </a:rPr>
              <a:t>Selected starting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71016"/>
            <a:ext cx="731520" cy="50292"/>
          </a:xfrm>
          <a:prstGeom prst="rect">
            <a:avLst/>
          </a:prstGeom>
          <a:solidFill>
            <a:srgbClr val="26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9224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78A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10652760" cy="3383280"/>
          </a:xfrm>
          <a:prstGeom prst="rect">
            <a:avLst/>
          </a:prstGeom>
          <a:noFill/>
        </p:spPr>
        <p:txBody>
          <a:bodyPr wrap="square" lIns="73152" rIns="109728" tIns="73152" bIns="54864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Yang, B. et al. (2025). Hallucination Detection in Large Language Models with Metamorphic Relations. Proceedings of the ACM on Software Engineering, 2(FSE), 425–445. doi:10.1145/3715735</a:t>
            </a:r>
          </a:p>
          <a:p>
            <a:pPr>
              <a:spcAft>
                <a:spcPts val="16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Le, N.-K. et al. (2025). Automated Web Application Testing: End-to-End Test Case Generation with Large Language Models and Screen Transition Graphs. Proceedings of JSAI 2025. doi:10.11517/pjsai.JSAI2025.0_3K4IS2a03</a:t>
            </a:r>
          </a:p>
          <a:p>
            <a:pPr>
              <a:spcAft>
                <a:spcPts val="16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Gu, S. et al. (2024). TestART: Improving LLM-based Unit Testing via Co-evolution of Automated Generation and Repair Iteration. arXiv:2408.03095.</a:t>
            </a:r>
          </a:p>
          <a:p>
            <a:pPr>
              <a:spcAft>
                <a:spcPts val="1600"/>
              </a:spcAft>
              <a:defRPr sz="1500">
                <a:solidFill>
                  <a:srgbClr val="1F3044"/>
                </a:solidFill>
                <a:latin typeface="Aptos"/>
              </a:defRPr>
            </a:pPr>
            <a:r>
              <a:t>•  Yin, X. et al. (2025). Enhancing LLM's Ability to Generate More Repository-Aware Unit Tests Through Precise Contextual Information Injection. arXiv:2501.07425.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212080"/>
            <a:ext cx="103327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7778A"/>
                </a:solidFill>
                <a:latin typeface="Aptos"/>
              </a:rPr>
              <a:t>These are representative works from an initial scan, not a completed systematic review. Verify publisher records and expand the search before making a novelty claim.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Detecting Hallucinations in AI-Generated Software Test Cases</dc:title>
  <dc:subject>Research proposal: metamorphic testing for Playwright UI tests</dc:subject>
  <dc:creator>Research proposal</dc:creator>
  <cp:keywords>LLM, hallucination, UI testing, metamorphic testing, Playwright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